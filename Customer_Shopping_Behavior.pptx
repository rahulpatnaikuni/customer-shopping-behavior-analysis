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4630400" cy="8229600"/>
  <p:notesSz cx="8229600" cy="14630400"/>
  <p:embeddedFontLst>
    <p:embeddedFont>
      <p:font typeface="Barlow Bold" panose="020B0604020202020204" charset="0"/>
      <p:bold r:id="rId14"/>
    </p:embeddedFont>
    <p:embeddedFont>
      <p:font typeface="Montserrat" panose="00000500000000000000" pitchFamily="2" charset="0"/>
      <p:regular r:id="rId15"/>
    </p:embeddedFont>
    <p:embeddedFont>
      <p:font typeface="Platypi Medium" panose="020B0604020202020204" charset="0"/>
      <p:regular r:id="rId16"/>
    </p:embeddedFont>
    <p:embeddedFont>
      <p:font typeface="Source Serif 4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20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4725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microsoft.com/office/2007/relationships/hdphoto" Target="../media/hdphoto2.wdp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svg"/><Relationship Id="rId3" Type="http://schemas.openxmlformats.org/officeDocument/2006/relationships/image" Target="../media/image19.png"/><Relationship Id="rId7" Type="http://schemas.openxmlformats.org/officeDocument/2006/relationships/image" Target="../media/image22.sv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microsoft.com/office/2007/relationships/hdphoto" Target="../media/hdphoto3.wdp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892862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Project Report: 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4643199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Understanding customer behavior is crucial for enhancing business strategy, optimizing offerings, and boosting revenue.</a:t>
            </a:r>
            <a:endParaRPr lang="en-US" sz="17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CA3B75-2F29-4F4F-5F1F-04AF6A16453C}"/>
              </a:ext>
            </a:extLst>
          </p:cNvPr>
          <p:cNvSpPr txBox="1"/>
          <p:nvPr/>
        </p:nvSpPr>
        <p:spPr>
          <a:xfrm>
            <a:off x="12552219" y="7782097"/>
            <a:ext cx="196180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Customer Behavior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831181"/>
            <a:ext cx="9526072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Introduction: Why Analyze Customer Behavior?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58309" y="2834521"/>
            <a:ext cx="6448544" cy="1673662"/>
          </a:xfrm>
          <a:prstGeom prst="roundRect">
            <a:avLst>
              <a:gd name="adj" fmla="val 8742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29" y="2834521"/>
            <a:ext cx="121920" cy="16736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6804" y="308157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Improved Strategy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96804" y="3567708"/>
            <a:ext cx="586299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Tailor business decisions to real customer needs and trends.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423428" y="2834521"/>
            <a:ext cx="6448663" cy="1673662"/>
          </a:xfrm>
          <a:prstGeom prst="roundRect">
            <a:avLst>
              <a:gd name="adj" fmla="val 8742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948" y="2834521"/>
            <a:ext cx="121920" cy="16736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61923" y="308157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Enhanced CX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761923" y="3567708"/>
            <a:ext cx="586311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seamless and satisfying customer experiences.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758309" y="4724757"/>
            <a:ext cx="6448544" cy="1673662"/>
          </a:xfrm>
          <a:prstGeom prst="roundRect">
            <a:avLst>
              <a:gd name="adj" fmla="val 8742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29" y="4724757"/>
            <a:ext cx="121920" cy="16736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6804" y="497181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Optimized Offerings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096804" y="5457944"/>
            <a:ext cx="586299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 and present products customers truly want.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7423428" y="4724757"/>
            <a:ext cx="6448663" cy="1673662"/>
          </a:xfrm>
          <a:prstGeom prst="roundRect">
            <a:avLst>
              <a:gd name="adj" fmla="val 8742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948" y="4724757"/>
            <a:ext cx="121920" cy="167366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61923" y="497181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Increased Revenue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761923" y="5457944"/>
            <a:ext cx="586311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Drive sales through targeted approaches and better engagement.</a:t>
            </a:r>
            <a:endParaRPr lang="en-US" sz="17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5A41F4-690A-A126-5D3A-575B95D3D83A}"/>
              </a:ext>
            </a:extLst>
          </p:cNvPr>
          <p:cNvSpPr txBox="1"/>
          <p:nvPr/>
        </p:nvSpPr>
        <p:spPr>
          <a:xfrm>
            <a:off x="12552219" y="7782097"/>
            <a:ext cx="196180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Customer Behavior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14630400" cy="28435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3486507"/>
            <a:ext cx="6630472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Our End-to-End Analysis Pipeline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58309" y="4381500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project uses a comprehensive data pipeline to deliver actionable insights.</a:t>
            </a:r>
            <a:endParaRPr lang="en-US" sz="1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09" y="4971931"/>
            <a:ext cx="4371261" cy="86653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74884" y="605504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Python EDA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974884" y="6541175"/>
            <a:ext cx="3938111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Initial data loading, exploration, and verification.</a:t>
            </a:r>
            <a:endParaRPr lang="en-US" sz="17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9570" y="4971931"/>
            <a:ext cx="4371261" cy="86653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346144" y="605504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SQL Analysis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5346144" y="6541175"/>
            <a:ext cx="3938111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 dives, aggregations, and customer segmentation.</a:t>
            </a:r>
            <a:endParaRPr lang="en-US" sz="17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0830" y="4971931"/>
            <a:ext cx="4371261" cy="86653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717405" y="605504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Power BI Dashboards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9717405" y="6541175"/>
            <a:ext cx="3938111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Interactive visualizations for informed decisions.</a:t>
            </a:r>
            <a:endParaRPr lang="en-US" sz="1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FF8198-384A-1A78-997C-5C9E40FE352C}"/>
              </a:ext>
            </a:extLst>
          </p:cNvPr>
          <p:cNvSpPr txBox="1"/>
          <p:nvPr/>
        </p:nvSpPr>
        <p:spPr>
          <a:xfrm>
            <a:off x="12552219" y="7782097"/>
            <a:ext cx="196180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Customer Behavior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2218" y="473154"/>
            <a:ext cx="6726674" cy="45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Dataset Overview: Rich Customer Insights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602218" y="1270040"/>
            <a:ext cx="13425964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analysis is built on 3,900 transaction records with 18 columns of diverse data.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2218" y="1910953"/>
            <a:ext cx="2264331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Demographic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02218" y="2366010"/>
            <a:ext cx="4196358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ID, Age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2218" y="2701409"/>
            <a:ext cx="4196358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Gender, Location</a:t>
            </a:r>
            <a:endParaRPr lang="en-US" sz="13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18" y="3170277"/>
            <a:ext cx="4196358" cy="41963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26010" y="1910953"/>
            <a:ext cx="2264331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Transactional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5226010" y="2366010"/>
            <a:ext cx="4194929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Item Purchased, Category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226010" y="2701409"/>
            <a:ext cx="4194929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Purchase Amount (USD)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226010" y="3036808"/>
            <a:ext cx="4194929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Transaction Date</a:t>
            </a:r>
            <a:endParaRPr lang="en-US" sz="13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6010" y="3505676"/>
            <a:ext cx="4194929" cy="419492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848374" y="1910953"/>
            <a:ext cx="2264331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Behavioral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9848374" y="2366010"/>
            <a:ext cx="4194929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Rating, Previous Purchases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9848374" y="2701409"/>
            <a:ext cx="4194929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Subscription, Shipping Type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9848374" y="3036808"/>
            <a:ext cx="4194929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Discount, Promo Code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9848374" y="3372207"/>
            <a:ext cx="4194929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Payment Method, Frequency</a:t>
            </a:r>
            <a:endParaRPr lang="en-US" sz="13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17532" y="3707606"/>
            <a:ext cx="4194929" cy="419492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3B334AC-5083-E3B6-1379-DE77448D292C}"/>
              </a:ext>
            </a:extLst>
          </p:cNvPr>
          <p:cNvSpPr txBox="1"/>
          <p:nvPr/>
        </p:nvSpPr>
        <p:spPr>
          <a:xfrm>
            <a:off x="12552219" y="7782097"/>
            <a:ext cx="196180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Customer Behavior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40187"/>
            <a:ext cx="7772400" cy="1031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Step 1: Python Exploratory Data Analysis (EDA)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85800" y="1865352"/>
            <a:ext cx="7772400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Jupyter Notebook revealed a clean dataset ready for advanced analytics.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85800" y="2399228"/>
            <a:ext cx="783788" cy="1175623"/>
          </a:xfrm>
          <a:prstGeom prst="roundRect">
            <a:avLst>
              <a:gd name="adj" fmla="val 360004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30712" y="2803327"/>
            <a:ext cx="293846" cy="367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665446" y="2595086"/>
            <a:ext cx="2578179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Loaded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665446" y="3034784"/>
            <a:ext cx="6792754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3900 records, 18 columns, no major missing values.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5800" y="3770709"/>
            <a:ext cx="783788" cy="1175623"/>
          </a:xfrm>
          <a:prstGeom prst="roundRect">
            <a:avLst>
              <a:gd name="adj" fmla="val 360004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0712" y="4174808"/>
            <a:ext cx="293846" cy="367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665446" y="3966567"/>
            <a:ext cx="2578179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Structural Overview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665446" y="4406265"/>
            <a:ext cx="6792754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 datatypes: object, integer, float. No quality issues.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85800" y="5142190"/>
            <a:ext cx="783788" cy="1175623"/>
          </a:xfrm>
          <a:prstGeom prst="roundRect">
            <a:avLst>
              <a:gd name="adj" fmla="val 360004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0712" y="5546288"/>
            <a:ext cx="293846" cy="367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1665446" y="5338048"/>
            <a:ext cx="2786301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Meaningful Distributions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665446" y="5777746"/>
            <a:ext cx="6792754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Age, purchase amount, and categories show rich variety.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85800" y="6513671"/>
            <a:ext cx="783788" cy="1175623"/>
          </a:xfrm>
          <a:prstGeom prst="roundRect">
            <a:avLst>
              <a:gd name="adj" fmla="val 360004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30712" y="6917769"/>
            <a:ext cx="293846" cy="367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1665446" y="6709529"/>
            <a:ext cx="2578179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Ready for SQL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665446" y="7149227"/>
            <a:ext cx="6792754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Minimal preprocessing needed for database upload.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089779"/>
            <a:ext cx="7251978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Step 3: SQL Deep Dive - Key Insights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58309" y="2093119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Structured queries revealed significant patterns in customer spending and preferences.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58309" y="3008471"/>
            <a:ext cx="4226838" cy="1968222"/>
          </a:xfrm>
          <a:prstGeom prst="roundRect">
            <a:avLst>
              <a:gd name="adj" fmla="val 7433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977991"/>
            <a:ext cx="4226838" cy="12192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6687" y="2683550"/>
            <a:ext cx="649962" cy="6499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1712" y="2846070"/>
            <a:ext cx="259913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1005364" y="355008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Revenue by Age Group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005364" y="4036219"/>
            <a:ext cx="373272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E251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25-45 age group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generates highest revenue.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5201722" y="3008471"/>
            <a:ext cx="4226838" cy="1968222"/>
          </a:xfrm>
          <a:prstGeom prst="roundRect">
            <a:avLst>
              <a:gd name="adj" fmla="val 7433"/>
            </a:avLst>
          </a:prstGeom>
          <a:solidFill>
            <a:srgbClr val="FFFFFF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1722" y="2977991"/>
            <a:ext cx="4226838" cy="121920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0100" y="2683550"/>
            <a:ext cx="649962" cy="64996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185124" y="2846070"/>
            <a:ext cx="259913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5448776" y="3550087"/>
            <a:ext cx="3022521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Category-Wise Revenue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5448776" y="4036219"/>
            <a:ext cx="373272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E251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Electronics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highest revenue, </a:t>
            </a:r>
            <a:r>
              <a:rPr lang="en-US" sz="1700" dirty="0">
                <a:solidFill>
                  <a:srgbClr val="3E251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Clothing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highest volume.</a:t>
            </a:r>
            <a:endParaRPr lang="en-US" sz="1700" dirty="0"/>
          </a:p>
        </p:txBody>
      </p:sp>
      <p:sp>
        <p:nvSpPr>
          <p:cNvPr id="16" name="Shape 10"/>
          <p:cNvSpPr/>
          <p:nvPr/>
        </p:nvSpPr>
        <p:spPr>
          <a:xfrm>
            <a:off x="9645134" y="3008471"/>
            <a:ext cx="4226957" cy="1968222"/>
          </a:xfrm>
          <a:prstGeom prst="roundRect">
            <a:avLst>
              <a:gd name="adj" fmla="val 7433"/>
            </a:avLst>
          </a:prstGeom>
          <a:solidFill>
            <a:srgbClr val="FFFFFF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5134" y="2977991"/>
            <a:ext cx="4226957" cy="121920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3631" y="2683550"/>
            <a:ext cx="649962" cy="64996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1628656" y="2846070"/>
            <a:ext cx="259913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2"/>
          <p:cNvSpPr/>
          <p:nvPr/>
        </p:nvSpPr>
        <p:spPr>
          <a:xfrm>
            <a:off x="9892189" y="355008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Top Spenders</a:t>
            </a:r>
            <a:endParaRPr lang="en-US" sz="2200" dirty="0"/>
          </a:p>
        </p:txBody>
      </p:sp>
      <p:sp>
        <p:nvSpPr>
          <p:cNvPr id="21" name="Text 13"/>
          <p:cNvSpPr/>
          <p:nvPr/>
        </p:nvSpPr>
        <p:spPr>
          <a:xfrm>
            <a:off x="9892189" y="4036219"/>
            <a:ext cx="373284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Identified high-value customers for loyalty programs.</a:t>
            </a:r>
            <a:endParaRPr lang="en-US" sz="1700" dirty="0"/>
          </a:p>
        </p:txBody>
      </p:sp>
      <p:sp>
        <p:nvSpPr>
          <p:cNvPr id="22" name="Shape 14"/>
          <p:cNvSpPr/>
          <p:nvPr/>
        </p:nvSpPr>
        <p:spPr>
          <a:xfrm>
            <a:off x="758309" y="5518190"/>
            <a:ext cx="6448544" cy="162151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/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309" y="5487710"/>
            <a:ext cx="6448544" cy="121920"/>
          </a:xfrm>
          <a:prstGeom prst="rect">
            <a:avLst/>
          </a:prstGeom>
        </p:spPr>
      </p:pic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540" y="5193268"/>
            <a:ext cx="649962" cy="64996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3852565" y="5355788"/>
            <a:ext cx="259913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16"/>
          <p:cNvSpPr/>
          <p:nvPr/>
        </p:nvSpPr>
        <p:spPr>
          <a:xfrm>
            <a:off x="1005364" y="605980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Payment Methods</a:t>
            </a:r>
            <a:endParaRPr lang="en-US" sz="2200" dirty="0"/>
          </a:p>
        </p:txBody>
      </p:sp>
      <p:sp>
        <p:nvSpPr>
          <p:cNvPr id="27" name="Text 17"/>
          <p:cNvSpPr/>
          <p:nvPr/>
        </p:nvSpPr>
        <p:spPr>
          <a:xfrm>
            <a:off x="1005364" y="6545937"/>
            <a:ext cx="595443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E251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Debit/Credit Card &amp; Online Wallet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dominate.</a:t>
            </a:r>
            <a:endParaRPr lang="en-US" sz="1700" dirty="0"/>
          </a:p>
        </p:txBody>
      </p:sp>
      <p:sp>
        <p:nvSpPr>
          <p:cNvPr id="28" name="Shape 18"/>
          <p:cNvSpPr/>
          <p:nvPr/>
        </p:nvSpPr>
        <p:spPr>
          <a:xfrm>
            <a:off x="7423428" y="5518190"/>
            <a:ext cx="6448663" cy="162151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/>
        </p:spPr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3428" y="5487710"/>
            <a:ext cx="6448663" cy="121920"/>
          </a:xfrm>
          <a:prstGeom prst="rect">
            <a:avLst/>
          </a:prstGeom>
        </p:spPr>
      </p:pic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2778" y="5193268"/>
            <a:ext cx="649962" cy="649962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10517803" y="5355788"/>
            <a:ext cx="259913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20"/>
          <p:cNvSpPr/>
          <p:nvPr/>
        </p:nvSpPr>
        <p:spPr>
          <a:xfrm>
            <a:off x="7670483" y="605980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Loyalty Patterns</a:t>
            </a:r>
            <a:endParaRPr lang="en-US" sz="2200" dirty="0"/>
          </a:p>
        </p:txBody>
      </p:sp>
      <p:sp>
        <p:nvSpPr>
          <p:cNvPr id="33" name="Text 21"/>
          <p:cNvSpPr/>
          <p:nvPr/>
        </p:nvSpPr>
        <p:spPr>
          <a:xfrm>
            <a:off x="7670483" y="6545937"/>
            <a:ext cx="595455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High-frequency customers show higher lifetime value.</a:t>
            </a:r>
            <a:endParaRPr lang="en-US" sz="17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60FB69B-594E-4612-06DE-F8E2847C7538}"/>
              </a:ext>
            </a:extLst>
          </p:cNvPr>
          <p:cNvSpPr txBox="1"/>
          <p:nvPr/>
        </p:nvSpPr>
        <p:spPr>
          <a:xfrm>
            <a:off x="12552219" y="7782097"/>
            <a:ext cx="196180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Customer Behavior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221706"/>
            <a:ext cx="7151608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Step 4: Power BI Dashboard Visuals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58309" y="3116699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Interactive dashboards transform data into actionable business insights.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58309" y="413504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Visuals: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58309" y="4816197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Subscription Status &amp; Revenue by Category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58309" y="5238631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Most Purchased Items &amp; Revenue by Region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58309" y="5661065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Payment Method Usage, Frequency/Loyalty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4940" y="373142"/>
            <a:ext cx="6294239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Insights: Demographics, Spending &amp; Behavior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74940" y="1069419"/>
            <a:ext cx="2212062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Demographic Snapshot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74940" y="1472922"/>
            <a:ext cx="6674763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E251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 25-45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drives revenue &amp; purchases.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4940" y="1737479"/>
            <a:ext cx="6674763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Balanced gender split across customer base.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4940" y="2002036"/>
            <a:ext cx="6674763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Diverse geographic locations represented.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934" y="2348644"/>
            <a:ext cx="6674763" cy="57147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88317" y="1069419"/>
            <a:ext cx="2836664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Spending &amp; Behavioral Trends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488317" y="1472922"/>
            <a:ext cx="6674763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E251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Electronics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= high revenue; </a:t>
            </a:r>
            <a:r>
              <a:rPr lang="en-US" sz="1050" dirty="0">
                <a:solidFill>
                  <a:srgbClr val="3E251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Clothing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= high frequency.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488317" y="1737479"/>
            <a:ext cx="6674763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High-frequency buyers give higher ratings.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488317" y="2002036"/>
            <a:ext cx="6674763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Discount seekers make lower-value, more frequent purchases.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488317" y="2266593"/>
            <a:ext cx="6674763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Online payments preferred over cash.</a:t>
            </a:r>
            <a:endParaRPr lang="en-US" sz="10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4217" y="2615815"/>
            <a:ext cx="6821367" cy="54475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4630400" cy="28435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3305532"/>
            <a:ext cx="9736336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Customer Segmentation for Targeted Strategies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58309" y="4200525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Understanding distinct customer groups allows for personalized engagement.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758309" y="4790956"/>
            <a:ext cx="4226838" cy="2841188"/>
          </a:xfrm>
          <a:prstGeom prst="roundRect">
            <a:avLst>
              <a:gd name="adj" fmla="val 1143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504" y="5015151"/>
            <a:ext cx="649962" cy="649962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61217" y="5193863"/>
            <a:ext cx="292418" cy="29241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82504" y="588168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High-Value Loyal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982504" y="6367820"/>
            <a:ext cx="3778448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purchase amount, high frequency, many previous purchases.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5201722" y="4790956"/>
            <a:ext cx="4226838" cy="2841188"/>
          </a:xfrm>
          <a:prstGeom prst="roundRect">
            <a:avLst>
              <a:gd name="adj" fmla="val 1143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5916" y="5015151"/>
            <a:ext cx="649962" cy="649962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04629" y="5193863"/>
            <a:ext cx="292418" cy="29241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425916" y="588168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Discount Seekers</a:t>
            </a:r>
            <a:endParaRPr lang="en-US" sz="2200" dirty="0"/>
          </a:p>
        </p:txBody>
      </p:sp>
      <p:sp>
        <p:nvSpPr>
          <p:cNvPr id="14" name="Text 7"/>
          <p:cNvSpPr/>
          <p:nvPr/>
        </p:nvSpPr>
        <p:spPr>
          <a:xfrm>
            <a:off x="5425916" y="6367820"/>
            <a:ext cx="377844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Utilize promotions, lower average order value.</a:t>
            </a:r>
            <a:endParaRPr lang="en-US" sz="1700" dirty="0"/>
          </a:p>
        </p:txBody>
      </p:sp>
      <p:sp>
        <p:nvSpPr>
          <p:cNvPr id="15" name="Shape 8"/>
          <p:cNvSpPr/>
          <p:nvPr/>
        </p:nvSpPr>
        <p:spPr>
          <a:xfrm>
            <a:off x="9645134" y="4790956"/>
            <a:ext cx="4226957" cy="2841188"/>
          </a:xfrm>
          <a:prstGeom prst="roundRect">
            <a:avLst>
              <a:gd name="adj" fmla="val 1143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69329" y="5015151"/>
            <a:ext cx="649962" cy="649962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048042" y="5193863"/>
            <a:ext cx="292418" cy="29241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9869329" y="588168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Occasional Shoppers</a:t>
            </a:r>
            <a:endParaRPr lang="en-US" sz="2200" dirty="0"/>
          </a:p>
        </p:txBody>
      </p:sp>
      <p:sp>
        <p:nvSpPr>
          <p:cNvPr id="19" name="Text 10"/>
          <p:cNvSpPr/>
          <p:nvPr/>
        </p:nvSpPr>
        <p:spPr>
          <a:xfrm>
            <a:off x="9869329" y="6367820"/>
            <a:ext cx="377856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 frequency, typically low-priced product purchases.</a:t>
            </a:r>
            <a:endParaRPr lang="en-US" sz="17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9B99BE-DEA3-CB39-20A2-34CB22E844ED}"/>
              </a:ext>
            </a:extLst>
          </p:cNvPr>
          <p:cNvSpPr txBox="1"/>
          <p:nvPr/>
        </p:nvSpPr>
        <p:spPr>
          <a:xfrm>
            <a:off x="12552219" y="7782097"/>
            <a:ext cx="196180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Customer Behavior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6036" y="893445"/>
            <a:ext cx="7039332" cy="500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Strategic Recommendations for Growth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666036" y="1679615"/>
            <a:ext cx="7811929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Leverage insights to optimize marketing, product, and customer experience.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6036" y="2198013"/>
            <a:ext cx="761167" cy="1141809"/>
          </a:xfrm>
          <a:prstGeom prst="roundRect">
            <a:avLst>
              <a:gd name="adj" fmla="val 36003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03923" y="2590443"/>
            <a:ext cx="28539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617464" y="2388275"/>
            <a:ext cx="2504003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Retain Loyal Buyers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617464" y="2815352"/>
            <a:ext cx="6860500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Premium programs, early access, reward points.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66036" y="3530084"/>
            <a:ext cx="761167" cy="1141809"/>
          </a:xfrm>
          <a:prstGeom prst="roundRect">
            <a:avLst>
              <a:gd name="adj" fmla="val 36003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03923" y="3922514"/>
            <a:ext cx="28539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617464" y="3720346"/>
            <a:ext cx="3253145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Convert Occasional Shoppers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617464" y="4147423"/>
            <a:ext cx="6860500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First-time discounts, bundled offers, targeted emails.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66036" y="4862155"/>
            <a:ext cx="761167" cy="1141809"/>
          </a:xfrm>
          <a:prstGeom prst="roundRect">
            <a:avLst>
              <a:gd name="adj" fmla="val 36003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03923" y="5254585"/>
            <a:ext cx="28539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617464" y="5052417"/>
            <a:ext cx="2814638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Boost Popular Categories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1617464" y="5479494"/>
            <a:ext cx="6860500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More stock in Electronics/Clothing, personalized recommendations.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666036" y="6194227"/>
            <a:ext cx="761167" cy="1141809"/>
          </a:xfrm>
          <a:prstGeom prst="roundRect">
            <a:avLst>
              <a:gd name="adj" fmla="val 36003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3923" y="6586657"/>
            <a:ext cx="28539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617464" y="6384488"/>
            <a:ext cx="2643426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Improve CX &amp; Payments</a:t>
            </a:r>
            <a:endParaRPr lang="en-US" sz="1950" dirty="0"/>
          </a:p>
        </p:txBody>
      </p:sp>
      <p:sp>
        <p:nvSpPr>
          <p:cNvPr id="20" name="Text 17"/>
          <p:cNvSpPr/>
          <p:nvPr/>
        </p:nvSpPr>
        <p:spPr>
          <a:xfrm>
            <a:off x="1617464" y="6811566"/>
            <a:ext cx="6860500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Faster shipping, cashback on digital payments, monitor feedback.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24858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chemeClr val="accent1">
                    <a:lumMod val="50000"/>
                  </a:schemeClr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Conclusion: Driving Growth Through Data</a:t>
            </a:r>
            <a:endParaRPr lang="en-US" sz="355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319897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This project successfully delivered an end-to-end customer behavior analysis, providing a roadmap for strategic growth.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133951" y="4435078"/>
            <a:ext cx="721625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"The analysis revealed crucial insights into customer demographics, preferences, spending behavior, and loyalty patterns. These findings can help businesses improve product strategy, optimize targeted marketing, and enhance customer satisfaction."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4179927"/>
            <a:ext cx="30480" cy="2324814"/>
          </a:xfrm>
          <a:prstGeom prst="rect">
            <a:avLst/>
          </a:prstGeom>
          <a:solidFill>
            <a:srgbClr val="3E251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636</Words>
  <Application>Microsoft Office PowerPoint</Application>
  <PresentationFormat>Custom</PresentationFormat>
  <Paragraphs>122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Barlow Bold</vt:lpstr>
      <vt:lpstr>Montserrat</vt:lpstr>
      <vt:lpstr>Source Serif 4</vt:lpstr>
      <vt:lpstr>Platypi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SNEHA BHOOMIKA</cp:lastModifiedBy>
  <cp:revision>4</cp:revision>
  <dcterms:created xsi:type="dcterms:W3CDTF">2025-11-19T18:50:26Z</dcterms:created>
  <dcterms:modified xsi:type="dcterms:W3CDTF">2025-11-20T13:36:32Z</dcterms:modified>
</cp:coreProperties>
</file>